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E0307-B85C-446A-8EF0-0407D435D787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39ACE-9343-4EBE-B5CA-AEA240A1DC53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00F7B-89C5-4DF7-A309-6263220147D4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C95DE-FD64-4606-AE61-EC1136867CC6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B0BBD-30FE-4CF1-900A-0C45149F8AF8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A5F7F-3E81-4C65-A4D1-CB62D5B9DB91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ECC86-1672-4627-AEFE-EC5485C73905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CB01F-D966-4C62-B900-0BE008A90C98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3A0EA-7DC7-4964-BB97-B173EF3B859A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862E7-95FA-4FC4-9EC5-DDBFA8DC7417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B987F2-A784-4F72-BB57-0E9EACDE722E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BD51E-4B19-444E-85C0-DBD7EB6263F4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255A-4AD5-4D3E-9A0A-689DA3BA976C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0AD15-87AC-45B2-9EE5-8D165AF83CD7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40CCD-F0D6-4CC2-A4C8-2D7D0D875F02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FE2CC-454D-4466-AC55-B86DA0A87BAE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647B1BF-4039-460D-A637-65428CBD720E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F52CC-F3D9-41D4-BCE4-C208E61A3F31}" type="datetimeFigureOut">
              <a:rPr lang="en-US" dirty="0"/>
              <a:t>4/17/2025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C92B-EA7C-97F6-067F-434ABC968A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/>
              <a:t>Budget in the Education Sector in the Indian Economy (2015–2025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27AC7-66D3-138D-F8FF-8D4F18FE0C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b="1" dirty="0"/>
              <a:t>Presented by:</a:t>
            </a:r>
            <a:br>
              <a:rPr lang="en-US" sz="1600" dirty="0"/>
            </a:br>
            <a:r>
              <a:rPr lang="en-US" sz="1600" dirty="0"/>
              <a:t>Apurav(202311014)</a:t>
            </a:r>
          </a:p>
          <a:p>
            <a:r>
              <a:rPr lang="en-US" sz="1600" dirty="0"/>
              <a:t>Date:</a:t>
            </a:r>
          </a:p>
          <a:p>
            <a:r>
              <a:rPr lang="en-US" sz="1600" dirty="0"/>
              <a:t>17 April 2025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276502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B3450-E832-A377-C782-6DE754E30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 of Education Budget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18BA4AA-F5C5-3401-9909-D1608E8B90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2582092"/>
              </p:ext>
            </p:extLst>
          </p:nvPr>
        </p:nvGraphicFramePr>
        <p:xfrm>
          <a:off x="1188210" y="2355246"/>
          <a:ext cx="188984" cy="3907584"/>
        </p:xfrm>
        <a:graphic>
          <a:graphicData uri="http://schemas.openxmlformats.org/drawingml/2006/table">
            <a:tbl>
              <a:tblPr/>
              <a:tblGrid>
                <a:gridCol w="188984">
                  <a:extLst>
                    <a:ext uri="{9D8B030D-6E8A-4147-A177-3AD203B41FA5}">
                      <a16:colId xmlns:a16="http://schemas.microsoft.com/office/drawing/2014/main" val="19447509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4611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0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492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93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294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506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294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3886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0797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619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926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IN" sz="1600" dirty="0"/>
                    </a:p>
                  </a:txBody>
                  <a:tcPr marL="81792" marR="81792" marT="40896" marB="4089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5881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EF8311-CD2A-618A-2767-CDD805E91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78329"/>
              </p:ext>
            </p:extLst>
          </p:nvPr>
        </p:nvGraphicFramePr>
        <p:xfrm>
          <a:off x="285135" y="1966453"/>
          <a:ext cx="11277601" cy="4750875"/>
        </p:xfrm>
        <a:graphic>
          <a:graphicData uri="http://schemas.openxmlformats.org/drawingml/2006/table">
            <a:tbl>
              <a:tblPr/>
              <a:tblGrid>
                <a:gridCol w="2314477">
                  <a:extLst>
                    <a:ext uri="{9D8B030D-6E8A-4147-A177-3AD203B41FA5}">
                      <a16:colId xmlns:a16="http://schemas.microsoft.com/office/drawing/2014/main" val="3442570462"/>
                    </a:ext>
                  </a:extLst>
                </a:gridCol>
                <a:gridCol w="2186657">
                  <a:extLst>
                    <a:ext uri="{9D8B030D-6E8A-4147-A177-3AD203B41FA5}">
                      <a16:colId xmlns:a16="http://schemas.microsoft.com/office/drawing/2014/main" val="920832089"/>
                    </a:ext>
                  </a:extLst>
                </a:gridCol>
                <a:gridCol w="2258255">
                  <a:extLst>
                    <a:ext uri="{9D8B030D-6E8A-4147-A177-3AD203B41FA5}">
                      <a16:colId xmlns:a16="http://schemas.microsoft.com/office/drawing/2014/main" val="1160977249"/>
                    </a:ext>
                  </a:extLst>
                </a:gridCol>
                <a:gridCol w="2259389">
                  <a:extLst>
                    <a:ext uri="{9D8B030D-6E8A-4147-A177-3AD203B41FA5}">
                      <a16:colId xmlns:a16="http://schemas.microsoft.com/office/drawing/2014/main" val="1231058218"/>
                    </a:ext>
                  </a:extLst>
                </a:gridCol>
                <a:gridCol w="2258823">
                  <a:extLst>
                    <a:ext uri="{9D8B030D-6E8A-4147-A177-3AD203B41FA5}">
                      <a16:colId xmlns:a16="http://schemas.microsoft.com/office/drawing/2014/main" val="1191666775"/>
                    </a:ext>
                  </a:extLst>
                </a:gridCol>
              </a:tblGrid>
              <a:tr h="727515">
                <a:tc>
                  <a:txBody>
                    <a:bodyPr/>
                    <a:lstStyle/>
                    <a:p>
                      <a:r>
                        <a:rPr lang="en-IN" dirty="0"/>
                        <a:t>Financial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School Education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Higher Education (₹ crore)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Total Allocation (₹ crore)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% Increase from Previous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2702487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2015–16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43,554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28,840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72,394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5.33</a:t>
                      </a:r>
                      <a:r>
                        <a:rPr lang="en-IN" dirty="0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793443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2016–17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46,356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33,330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79,686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10.1%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20729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2017–18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34,000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84,000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5.4%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8446000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2018–19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52,000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37,000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89,000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6.0%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246275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2019–20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56,000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38,000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625901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2020–21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59,845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39,455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99,300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5.6%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997263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2021–22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54,873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38,351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93,224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-6.1%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856559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2022–23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63,449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40,829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1,04,278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11.9%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995166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2023–24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68,805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44,094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1,12,899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8.3%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938348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2024–25 (BE)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73,008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47,620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1,20,628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6.8%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090066"/>
                  </a:ext>
                </a:extLst>
              </a:tr>
              <a:tr h="357543">
                <a:tc>
                  <a:txBody>
                    <a:bodyPr/>
                    <a:lstStyle/>
                    <a:p>
                      <a:r>
                        <a:rPr lang="en-IN"/>
                        <a:t>2025–26 (BE)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78,572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50,078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1,28,650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9819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4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98BA43-BF7E-B87D-CBAF-45CA28A6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Allocation trends</a:t>
            </a:r>
            <a:endParaRPr lang="en-IN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7138167-1EB2-F2BC-906B-C8D6697091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49961" y="2736976"/>
            <a:ext cx="5152103" cy="3367795"/>
          </a:xfr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2D2418B4-A38D-9430-8938-2A8BE2755F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81038" y="2736976"/>
            <a:ext cx="5414962" cy="3367795"/>
          </a:xfrm>
        </p:spPr>
      </p:pic>
    </p:spTree>
    <p:extLst>
      <p:ext uri="{BB962C8B-B14F-4D97-AF65-F5344CB8AC3E}">
        <p14:creationId xmlns:p14="http://schemas.microsoft.com/office/powerpoint/2010/main" val="3886211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92D2E-B8B8-079F-FD8D-42677DD05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with reason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AF54-E57D-AB1F-8BFC-41511765DC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Observations:</a:t>
            </a:r>
          </a:p>
          <a:p>
            <a:r>
              <a:rPr lang="en-US" sz="1400" dirty="0"/>
              <a:t>The total education budget has grown from ₹72,394 crore in 2015–16 to ₹1,28,650 crore in 2025–26, marking a significant rise over the decade.</a:t>
            </a:r>
          </a:p>
          <a:p>
            <a:endParaRPr lang="en-IN" sz="1400" dirty="0"/>
          </a:p>
          <a:p>
            <a:r>
              <a:rPr lang="en-US" sz="1400" dirty="0"/>
              <a:t>Throughout the decade, school education has consistently received a larger share of the education budget compared to higher education.</a:t>
            </a:r>
          </a:p>
          <a:p>
            <a:endParaRPr lang="en-US" sz="1400" dirty="0"/>
          </a:p>
          <a:p>
            <a:r>
              <a:rPr lang="en-US" sz="1400" dirty="0"/>
              <a:t> In the fiscal year 2021–22, there was a noticeable decrease in the total education budget allocation, dropping by approximately 6.1% compared to the previous year.</a:t>
            </a:r>
            <a:endParaRPr lang="en-IN" sz="1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E301A-3164-6CFC-7FA7-CA67203336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Reasons:</a:t>
            </a:r>
          </a:p>
          <a:p>
            <a:r>
              <a:rPr lang="en-US" sz="1400" dirty="0"/>
              <a:t>This upward trend reflects the government's commitment to enhancing educational infrastructure, implementing schemes like </a:t>
            </a:r>
            <a:r>
              <a:rPr lang="en-US" sz="1400" dirty="0" err="1"/>
              <a:t>Samagra</a:t>
            </a:r>
            <a:r>
              <a:rPr lang="en-US" sz="1400" dirty="0"/>
              <a:t> Shiksha Abhiyan, and promoting digital learning initiatives.</a:t>
            </a:r>
          </a:p>
          <a:p>
            <a:endParaRPr lang="en-US" sz="1400" dirty="0"/>
          </a:p>
          <a:p>
            <a:r>
              <a:rPr lang="en-US" sz="1400" dirty="0"/>
              <a:t>government's focus on foundational education, aiming to improve literacy rates</a:t>
            </a:r>
          </a:p>
          <a:p>
            <a:r>
              <a:rPr lang="en-US" sz="1400" dirty="0"/>
              <a:t>The COVID-19 pandemic necessitated a reallocation of government resources towards health and emergency services, leading to reduced funding for the education sector. 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83523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8920-E4FD-641A-A247-14E49055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Schemes &amp; Reforms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9AF636-F71A-F2C2-E79D-6C2CD4FF73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1" y="2982369"/>
            <a:ext cx="972220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Samagra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Shiksha Abhiyan (SSA):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Integrated scheme for school education from pre-primary to Class XII.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Allocation of ₹37,383 crore in 2022–23, a 20% increase over the previous year.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PM SHRI Schools: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Launched in 2022 to develop over 14,500 model schools.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budget outlay of ₹27,360 crore over five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3539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A659-CB21-D73F-5F4F-58CCEC4E1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51480-D896-11AC-AFD4-5FCED54E9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Major Schemes &amp; Reforms (Contd.)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08AEB0-7AFB-D300-7A3A-55A699DB4F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0320" y="2797704"/>
            <a:ext cx="10154827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Rashtriya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Uchchatar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Shiksha Abhiyan (RUSA):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Centrally Sponsored Scheme for funding state higher educational institutions.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Funding pattern: 60:40 between Centre and States for general category states.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National Education Policy (NEP) 2020: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framework for education reforms.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Emphasis on holistic, flexible, multidisciplinary education.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budget outlay of ₹27,360 crore over five years.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3249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1CB97-0A1B-EEB7-ED8A-E24095FB3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735" y="3152951"/>
            <a:ext cx="5690982" cy="17631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/>
              <a:t>Thankyou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329737280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343</TotalTime>
  <Words>406</Words>
  <Application>Microsoft Office PowerPoint</Application>
  <PresentationFormat>Widescreen</PresentationFormat>
  <Paragraphs>96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Berlin</vt:lpstr>
      <vt:lpstr>Budget in the Education Sector in the Indian Economy (2015–2025)</vt:lpstr>
      <vt:lpstr>Overview of Education Budget</vt:lpstr>
      <vt:lpstr>Budget Allocation trends</vt:lpstr>
      <vt:lpstr>Observation with reason</vt:lpstr>
      <vt:lpstr>Major Schemes &amp; Reforms</vt:lpstr>
      <vt:lpstr>Major Schemes &amp; Reforms (Contd.)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Apurav Sharma</dc:creator>
  <cp:lastModifiedBy>Apurav Sharma</cp:lastModifiedBy>
  <cp:revision>4</cp:revision>
  <dcterms:created xsi:type="dcterms:W3CDTF">2025-04-17T05:13:04Z</dcterms:created>
  <dcterms:modified xsi:type="dcterms:W3CDTF">2025-04-17T11:24:07Z</dcterms:modified>
</cp:coreProperties>
</file>